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“Introduction to transpilation”: https://qiskit.qotlabs.org/docs/guides/transpile
- IBM Quantum Documentation, “Transpiler stages”: https://qiskit.qotlabs.org/docs/guides/transpiler-stages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“Introduction to transpilation”: https://qiskit.qotlabs.org/docs/guides/transpile
- IBM Quantum Documentation, “Transpiler stages”: https://qiskit.qotlabs.org/docs/guides/transpiler-stages
- IBM Quantum Documentation, “Transpilation defaults and configuration options”: https://qiskit.qotlabs.org/docs/guides/defaults-and-configuration-options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“Transpilation defaults and configuration options”: https://qiskit.qotlabs.org/docs/guides/defaults-and-configuration-options
- IBM Quantum Documentation, “BackendV2”: https://qiskit.qotlabs.org/docs/api/qiskit/qiskit.providers.BackendV2
- IBM Quantum Documentation, “IBMBackend”: https://qiskit.qotlabs.org/docs/api/qiskit-ibm-runtime/ibm-backend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Siraichi et al., “Qubit allocation,” CGO 2018: https://dl.acm.org/doi/10.1145/3168822
- Li, Ding, Xie, “Tackling the Qubit Mapping Problem for NISQ-Era Quantum Devices”: https://arxiv.org/abs/1809.02573
- IBM Quantum Documentation, “Transpiler stages”: https://qiskit.qotlabs.org/docs/guides/transpiler-stages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Li, Ding, Xie, “Tackling the Qubit Mapping Problem for NISQ-Era Quantum Devices”: https://arxiv.org/abs/1809.02573
- IBM Quantum Documentation, “Transpilation defaults and configuration options”: https://qiskit.qotlabs.org/docs/guides/defaults-and-configuration-options
- Zhu et al., “Quantum Compiler Design for Qubit Mapping and Routing” (survey, 2025): https://arxiv.org/abs/2505.16891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“Transpiler stages”: https://qiskit.qotlabs.org/docs/guides/transpiler-stages
- IBM Quantum Documentation, “PassManagerConfig”: https://qiskit.qotlabs.org/docs/api/qiskit/qiskit.transpiler.PassManagerConfig
- Liu et al., “Relaxed Peephole Optimization: A Novel Compiler Optimization for Quantum Circuits”: https://arxiv.org/abs/2012.07711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“Introduction to transpilation”: https://qiskit.qotlabs.org/docs/guides/transpile
- IBM Quantum Documentation, “Create a pass manager for dynamical decoupling”: https://qiskit.qotlabs.org/docs/guides/dynamical-decoupling-pass-manager
- IBM Quantum Documentation, “PadDynamicalDecoupling”: https://qiskit.qotlabs.org/docs/api/qiskit/qiskit.transpiler.passes.PadDynamicalDecoupling
- Murali et al., “Noise-Adaptive Compiler Mappings for Noisy Intermediate-Scale Quantum Computers”: https://arxiv.org/abs/1901.11054
- Nation and Treinish, “Suppressing quantum circuit errors due to system variability”: https://arxiv.org/abs/2209.15512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“Introduction to transpilation”: https://qiskit.qotlabs.org/docs/guides/transpile
- IBM Quantum Documentation, “Running quantum circuits”: https://qiskit.qotlabs.org/learning/courses/quantum-computing-in-practice/running-quantum-circuits
- IBM Quantum Documentation, “Compare transpiler settings”: https://qiskit.qotlabs.org/docs/guides/circuit-transpilation-settings
- Illustrative code snippet created for this presentation; metric values on the slide are schematic and hardware-dependent.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Zhu et al., “Quantum Compiler Design for Qubit Mapping and Routing” (survey, 2025): https://arxiv.org/abs/2505.16891
- LightSABRE: https://arxiv.org/abs/2409.08368
- QARMA, qubit mapping and reuse via deep reinforcement learning: https://arxiv.org/abs/2506.09323
- Promponas et al., “Compiler for Distributed Quantum Computing”: https://arxiv.org/abs/2404.17077
- COMPASS, compiler pass selection for improving fidelity: https://arxiv.org/abs/2306.15020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Quantum Documentation, “Introduction to transpilation”: https://qiskit.qotlabs.org/docs/guides/transpile
- IBM Quantum Documentation, “Transpiler stages”: https://qiskit.qotlabs.org/docs/guides/transpiler-stages
- Siraichi et al., “Qubit allocation,” CGO 2018: https://dl.acm.org/doi/10.1145/3168822
- Li, Ding, Xie, “Tackling the Qubit Mapping Problem for NISQ-Era Quantum Devices”: https://arxiv.org/abs/1809.02573
- Murali et al., “Noise-Adaptive Compiler Mappings for Noisy Intermediate-Scale Quantum Computers”: https://arxiv.org/abs/1901.11054
- Nation and Treinish, “Suppressing quantum circuit errors due to system variability”: https://arxiv.org/abs/2209.15512
- Zhu et al., “Quantum Compiler Design for Qubit Mapping and Routing” (survey, 2025): https://arxiv.org/abs/2505.16891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868680"/>
            <a:ext cx="1005840" cy="1005840"/>
          </a:xfrm>
          <a:prstGeom prst="ellipse">
            <a:avLst/>
          </a:prstGeom>
          <a:solidFill>
            <a:srgbClr val="8D5CFF">
              <a:alpha val="18000"/>
            </a:srgbClr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1965960"/>
            <a:ext cx="777240" cy="777240"/>
          </a:xfrm>
          <a:prstGeom prst="ellipse">
            <a:avLst/>
          </a:prstGeom>
          <a:solidFill>
            <a:srgbClr val="28C7FA">
              <a:alpha val="22000"/>
            </a:srgbClr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3800" y="1051560"/>
            <a:ext cx="548640" cy="548640"/>
          </a:xfrm>
          <a:prstGeom prst="ellipse">
            <a:avLst/>
          </a:prstGeom>
          <a:solidFill>
            <a:srgbClr val="2D64FF">
              <a:alpha val="22000"/>
            </a:srgbClr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960120"/>
            <a:ext cx="5029200" cy="0"/>
          </a:xfrm>
          <a:prstGeom prst="line">
            <a:avLst/>
          </a:prstGeom>
          <a:noFill/>
          <a:ln w="12700">
            <a:solidFill>
              <a:srgbClr val="23456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0" y="1527048"/>
            <a:ext cx="5029200" cy="0"/>
          </a:xfrm>
          <a:prstGeom prst="line">
            <a:avLst/>
          </a:prstGeom>
          <a:noFill/>
          <a:ln w="12700">
            <a:solidFill>
              <a:srgbClr val="1A2B4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0" y="2093976"/>
            <a:ext cx="5029200" cy="0"/>
          </a:xfrm>
          <a:prstGeom prst="line">
            <a:avLst/>
          </a:prstGeom>
          <a:noFill/>
          <a:ln w="12700">
            <a:solidFill>
              <a:srgbClr val="23456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583680" y="2660904"/>
            <a:ext cx="5029200" cy="0"/>
          </a:xfrm>
          <a:prstGeom prst="line">
            <a:avLst/>
          </a:prstGeom>
          <a:noFill/>
          <a:ln w="12700">
            <a:solidFill>
              <a:srgbClr val="1A2B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83680" y="3227832"/>
            <a:ext cx="5029200" cy="0"/>
          </a:xfrm>
          <a:prstGeom prst="line">
            <a:avLst/>
          </a:prstGeom>
          <a:noFill/>
          <a:ln w="12700">
            <a:solidFill>
              <a:srgbClr val="23456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583680" y="3794760"/>
            <a:ext cx="5029200" cy="0"/>
          </a:xfrm>
          <a:prstGeom prst="line">
            <a:avLst/>
          </a:prstGeom>
          <a:noFill/>
          <a:ln w="12700">
            <a:solidFill>
              <a:srgbClr val="1A2B4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583680" y="4361688"/>
            <a:ext cx="5029200" cy="0"/>
          </a:xfrm>
          <a:prstGeom prst="line">
            <a:avLst/>
          </a:prstGeom>
          <a:noFill/>
          <a:ln w="12700">
            <a:solidFill>
              <a:srgbClr val="23456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675120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150608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626096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101584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577072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052560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528048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003536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479024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954512" y="731520"/>
            <a:ext cx="0" cy="4206240"/>
          </a:xfrm>
          <a:prstGeom prst="line">
            <a:avLst/>
          </a:prstGeom>
          <a:noFill/>
          <a:ln w="12700">
            <a:solidFill>
              <a:srgbClr val="16253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949440" y="1280160"/>
            <a:ext cx="128016" cy="128016"/>
          </a:xfrm>
          <a:prstGeom prst="ellipse">
            <a:avLst/>
          </a:prstGeom>
          <a:solidFill>
            <a:srgbClr val="28C7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30192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1920240"/>
            <a:ext cx="128016" cy="128016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0" y="194200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0" y="1554480"/>
            <a:ext cx="128016" cy="128016"/>
          </a:xfrm>
          <a:prstGeom prst="ellipse">
            <a:avLst/>
          </a:prstGeom>
          <a:solidFill>
            <a:srgbClr val="8D5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61120" y="157624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66960" y="237744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66960" y="239920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0" y="3200400"/>
            <a:ext cx="128016" cy="128016"/>
          </a:xfrm>
          <a:prstGeom prst="ellipse">
            <a:avLst/>
          </a:prstGeom>
          <a:solidFill>
            <a:srgbClr val="28C7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8080" y="322216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15600" y="3749040"/>
            <a:ext cx="128016" cy="128016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515600" y="377080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064240" y="1828800"/>
            <a:ext cx="128016" cy="128016"/>
          </a:xfrm>
          <a:prstGeom prst="ellipse">
            <a:avLst/>
          </a:prstGeom>
          <a:solidFill>
            <a:srgbClr val="8D5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064240" y="1850563"/>
            <a:ext cx="1280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3566160"/>
            <a:ext cx="2971800" cy="804672"/>
          </a:xfrm>
          <a:prstGeom prst="roundRect">
            <a:avLst>
              <a:gd name="adj" fmla="val 9091"/>
            </a:avLst>
          </a:prstGeom>
          <a:solidFill>
            <a:srgbClr val="15263D"/>
          </a:solidFill>
          <a:ln w="12700">
            <a:solidFill>
              <a:srgbClr val="20304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18120" y="288036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1A335A"/>
          </a:solidFill>
          <a:ln w="12700">
            <a:solidFill>
              <a:srgbClr val="2D64FF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01584" y="2221992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224575"/>
          </a:solidFill>
          <a:ln w="12700">
            <a:solidFill>
              <a:srgbClr val="28C7FA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1682496"/>
            <a:ext cx="1252728" cy="457200"/>
          </a:xfrm>
          <a:prstGeom prst="roundRect">
            <a:avLst>
              <a:gd name="adj" fmla="val 12000"/>
            </a:avLst>
          </a:prstGeom>
          <a:solidFill>
            <a:srgbClr val="3B6B9D"/>
          </a:solidFill>
          <a:ln w="12700">
            <a:solidFill>
              <a:srgbClr val="FFFFFF">
                <a:alpha val="7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58200" y="179222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188366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197510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8200" y="206654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59368" y="179222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9368" y="188366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59368" y="197510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59368" y="206654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60536" y="179222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0536" y="188366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60536" y="197510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60536" y="206654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61704" y="179222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61704" y="188366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61704" y="197510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61704" y="206654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62872" y="179222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62872" y="188366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62872" y="197510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62872" y="2066544"/>
            <a:ext cx="54864" cy="54864"/>
          </a:xfrm>
          <a:prstGeom prst="ellipse">
            <a:avLst/>
          </a:prstGeom>
          <a:solidFill>
            <a:srgbClr val="28C7FA"/>
          </a:solidFill>
          <a:ln w="12700">
            <a:solidFill>
              <a:srgbClr val="28C7FA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8096" y="987552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Quantum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Stack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804672" y="25786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B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abstract circuits to hardware-aware execution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804672" y="3063240"/>
            <a:ext cx="2011680" cy="0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" y="32735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96A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overview for an introduction to quantum computing</a:t>
            </a:r>
            <a:endParaRPr lang="en-US" sz="1280" dirty="0"/>
          </a:p>
        </p:txBody>
      </p:sp>
      <p:sp>
        <p:nvSpPr>
          <p:cNvPr id="64" name="Text 62"/>
          <p:cNvSpPr/>
          <p:nvPr/>
        </p:nvSpPr>
        <p:spPr>
          <a:xfrm>
            <a:off x="822960" y="60807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ICDS • Compiler-centric perspective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quantum computers need a compiler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38988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325880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circuits use ideal gates and arbitrary qubit interactions.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191109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847088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backends expose only a native gate set, a specific connectivity graph, and timing constraints.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232" y="255117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487168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and calibration drift make compilation a reliability problem, not just a syntax problem.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" y="319125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27248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is the bridge from algorithm intent to executable instructions.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0" y="14173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93961"/>
          </a:solidFill>
          <a:ln w="12700">
            <a:solidFill>
              <a:srgbClr val="193961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9552" y="14630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223760" y="196596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24508F"/>
          </a:solidFill>
          <a:ln w="12700">
            <a:solidFill>
              <a:srgbClr val="24508F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96912" y="201168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961120" y="251460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3369F5"/>
          </a:solidFill>
          <a:ln w="12700">
            <a:solidFill>
              <a:srgbClr val="3369F5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34272" y="256032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0698480" y="30632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7C5BFF"/>
          </a:solidFill>
          <a:ln w="12700">
            <a:solidFill>
              <a:srgbClr val="7C5BFF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71632" y="310896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9052560" y="4160520"/>
            <a:ext cx="2423160" cy="694944"/>
          </a:xfrm>
          <a:prstGeom prst="roundRect">
            <a:avLst>
              <a:gd name="adj" fmla="val 10526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25712" y="4206240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instructions / pulses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812280" y="1719072"/>
            <a:ext cx="301752" cy="493776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49640" y="2267712"/>
            <a:ext cx="283464" cy="493776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287000" y="2816352"/>
            <a:ext cx="274320" cy="493776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1338560" y="3675888"/>
            <a:ext cx="0" cy="411480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086600" y="932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stack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 rot="10800000">
            <a:off x="6675120" y="1261872"/>
            <a:ext cx="457200" cy="2423160"/>
          </a:xfrm>
          <a:prstGeom prst="brace">
            <a:avLst/>
          </a:prstGeom>
          <a:solidFill>
            <a:srgbClr val="FFFFFF">
              <a:alpha val="0"/>
            </a:srgbClr>
          </a:solidFill>
          <a:ln w="12700">
            <a:solidFill>
              <a:srgbClr val="8D5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21801" y="5083150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921801" y="5294376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203436" y="5083150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203436" y="5294376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485071" y="5083150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485071" y="5294376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766706" y="5083150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766706" y="5294376"/>
            <a:ext cx="76810" cy="57607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8705088" y="5103266"/>
            <a:ext cx="228600" cy="228600"/>
          </a:xfrm>
          <a:prstGeom prst="ellipse">
            <a:avLst/>
          </a:prstGeom>
          <a:solidFill>
            <a:srgbClr val="57D6A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705088" y="5142128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986723" y="489204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986723" y="493090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86723" y="5314493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986723" y="5353355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268358" y="5103266"/>
            <a:ext cx="228600" cy="22860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268358" y="5142128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549994" y="489204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549994" y="493090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549994" y="5314493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549994" y="5353355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831629" y="5103266"/>
            <a:ext cx="228600" cy="22860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831629" y="5142128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326880" y="54681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target-specific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the same quantum algorithm can compile very differently on different hardware targets.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compiler sees: program + target model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51392" y="192024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7FA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07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6048" y="1307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side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1832" y="184708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78308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circuit / IR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41832" y="2542032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247802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and observables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41832" y="323697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1729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control / measurements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1832" y="3931920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" y="3867912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objective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983480" y="1847088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178308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gates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983480" y="2542032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247802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 map / architecture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983480" y="3236976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31729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durations and scheduling rules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983480" y="3931920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3867912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data: T1, T2, readout, 2Q error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526280" y="3246120"/>
            <a:ext cx="91440" cy="0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098280" y="2130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“Target”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571025" y="2797150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571025" y="3035259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888504" y="2797150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888504" y="3035259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0205984" y="2797150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205984" y="3035259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523464" y="2797150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0523464" y="3035259"/>
            <a:ext cx="112654" cy="84491"/>
          </a:xfrm>
          <a:prstGeom prst="line">
            <a:avLst/>
          </a:prstGeom>
          <a:noFill/>
          <a:ln w="12700">
            <a:solidFill>
              <a:srgbClr val="B1BCD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54312" y="284415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54312" y="288301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71792" y="2606040"/>
            <a:ext cx="228600" cy="2286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71792" y="264490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71792" y="308226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671792" y="312112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989271" y="2844150"/>
            <a:ext cx="228600" cy="22860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989271" y="288301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306751" y="260604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306751" y="264490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306751" y="3082260"/>
            <a:ext cx="228600" cy="228600"/>
          </a:xfrm>
          <a:prstGeom prst="ellipse">
            <a:avLst/>
          </a:prstGeom>
          <a:solidFill>
            <a:srgbClr val="FFC05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306751" y="312112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624231" y="284415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624231" y="288301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098280" y="39136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does not optimize in the abstract; it optimizes against a concrete device model.</a:t>
            </a:r>
            <a:endParaRPr lang="en-US" sz="1260" dirty="0"/>
          </a:p>
        </p:txBody>
      </p:sp>
      <p:sp>
        <p:nvSpPr>
          <p:cNvPr id="53" name="Shape 51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Target-awareness is central: basis, topology, durations, and calibration all shape the compiled result.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Layout: assigning logical qubits to physical qubits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interaction pattern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1078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physical placement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13634" y="1718839"/>
            <a:ext cx="716132" cy="311362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812556" y="2178469"/>
            <a:ext cx="718287" cy="324791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866292" y="1716258"/>
            <a:ext cx="759655" cy="316523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865283" y="2175834"/>
            <a:ext cx="761675" cy="330059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828800" y="2103120"/>
            <a:ext cx="1783080" cy="0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81328" y="1938528"/>
            <a:ext cx="329184" cy="329184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81328" y="1994489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32888" y="1481328"/>
            <a:ext cx="329184" cy="329184"/>
          </a:xfrm>
          <a:prstGeom prst="ellipse">
            <a:avLst/>
          </a:prstGeom>
          <a:solidFill>
            <a:srgbClr val="57D6A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32888" y="1537289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2888" y="2414016"/>
            <a:ext cx="329184" cy="329184"/>
          </a:xfrm>
          <a:prstGeom prst="ellipse">
            <a:avLst/>
          </a:prstGeom>
          <a:solidFill>
            <a:srgbClr val="B57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32888" y="2469977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30168" y="1938528"/>
            <a:ext cx="329184" cy="329184"/>
          </a:xfrm>
          <a:prstGeom prst="ellipse">
            <a:avLst/>
          </a:prstGeom>
          <a:solidFill>
            <a:srgbClr val="FFC05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0168" y="1994489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goal: keep the “busy” logical neighbors physically close.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777240" cy="0"/>
          </a:xfrm>
          <a:prstGeom prst="line">
            <a:avLst/>
          </a:prstGeom>
          <a:noFill/>
          <a:ln w="12700">
            <a:solidFill>
              <a:srgbClr val="2D64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43193" y="1699870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343193" y="2122322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906463" y="1699870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906463" y="2122322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469734" y="1699870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469734" y="2122322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033004" y="1699870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033004" y="2122322"/>
            <a:ext cx="358445" cy="268834"/>
          </a:xfrm>
          <a:prstGeom prst="line">
            <a:avLst/>
          </a:prstGeom>
          <a:noFill/>
          <a:ln w="12700">
            <a:solidFill>
              <a:srgbClr val="A9B6CC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126480" y="1931213"/>
            <a:ext cx="228600" cy="22860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1970075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89750" y="150876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89750" y="154762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89750" y="2353666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89750" y="2392528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53021" y="1931213"/>
            <a:ext cx="228600" cy="228600"/>
          </a:xfrm>
          <a:prstGeom prst="ellipse">
            <a:avLst/>
          </a:prstGeom>
          <a:solidFill>
            <a:srgbClr val="57D6A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253021" y="1970075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16291" y="1508760"/>
            <a:ext cx="228600" cy="228600"/>
          </a:xfrm>
          <a:prstGeom prst="ellipse">
            <a:avLst/>
          </a:prstGeom>
          <a:solidFill>
            <a:srgbClr val="0E1F3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816291" y="154762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16291" y="2353666"/>
            <a:ext cx="228600" cy="228600"/>
          </a:xfrm>
          <a:prstGeom prst="ellipse">
            <a:avLst/>
          </a:prstGeom>
          <a:solidFill>
            <a:srgbClr val="B57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816291" y="2392528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79562" y="1931213"/>
            <a:ext cx="228600" cy="228600"/>
          </a:xfrm>
          <a:prstGeom prst="ellipse">
            <a:avLst/>
          </a:prstGeom>
          <a:solidFill>
            <a:srgbClr val="FFC05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79562" y="1970075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189720" y="17190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layout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9189720" y="1965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 →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→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→ 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→ 6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080760" y="385876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45352" y="3794760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layout reduces later routing overhead.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6080760" y="437997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45352" y="4315968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Reliability-aware layout can prefer cleaner qubits and edges.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6080760" y="4901184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4837176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Ancilla availability and future gates also matter.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is the first major hardware-aware decision: it strongly influences both depth and fidelity.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when the required interaction is not an edge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connectivity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16736" y="1965960"/>
            <a:ext cx="868680" cy="0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185416" y="1965960"/>
            <a:ext cx="868680" cy="0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054096" y="1965960"/>
            <a:ext cx="868680" cy="0"/>
          </a:xfrm>
          <a:prstGeom prst="line">
            <a:avLst/>
          </a:prstGeom>
          <a:noFill/>
          <a:ln w="12700">
            <a:solidFill>
              <a:srgbClr val="D8E3F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88720" y="1837944"/>
            <a:ext cx="256032" cy="256032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1881469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57400" y="1837944"/>
            <a:ext cx="256032" cy="256032"/>
          </a:xfrm>
          <a:prstGeom prst="ellipse">
            <a:avLst/>
          </a:prstGeom>
          <a:solidFill>
            <a:srgbClr val="57D6A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57400" y="1881469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837944"/>
            <a:ext cx="256032" cy="256032"/>
          </a:xfrm>
          <a:prstGeom prst="ellipse">
            <a:avLst/>
          </a:prstGeom>
          <a:solidFill>
            <a:srgbClr val="B57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1881469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1837944"/>
            <a:ext cx="256032" cy="256032"/>
          </a:xfrm>
          <a:prstGeom prst="ellipse">
            <a:avLst/>
          </a:prstGeom>
          <a:solidFill>
            <a:srgbClr val="FFC05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1881469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331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CX(q0, q3)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16736" y="2670048"/>
            <a:ext cx="2615184" cy="0"/>
          </a:xfrm>
          <a:prstGeom prst="line">
            <a:avLst/>
          </a:prstGeom>
          <a:noFill/>
          <a:ln w="12700">
            <a:solidFill>
              <a:srgbClr val="FF6E6E"/>
            </a:solidFill>
            <a:prstDash val="dash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316736" y="2670048"/>
            <a:ext cx="2615184" cy="0"/>
          </a:xfrm>
          <a:prstGeom prst="line">
            <a:avLst/>
          </a:prstGeom>
          <a:noFill/>
          <a:ln w="12700">
            <a:solidFill>
              <a:srgbClr val="FF6E6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868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circuit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6384" y="36850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88720" y="3794760"/>
            <a:ext cx="329184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86384" y="41239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88720" y="4233672"/>
            <a:ext cx="329184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786384" y="45628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88720" y="4672584"/>
            <a:ext cx="329184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786384" y="50017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188720" y="5111496"/>
            <a:ext cx="329184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88720" y="36301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36896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2468880" y="3794760"/>
            <a:ext cx="0" cy="1316736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414016" y="3739896"/>
            <a:ext cx="109728" cy="109728"/>
          </a:xfrm>
          <a:prstGeom prst="ellipse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14016" y="3758550"/>
            <a:ext cx="109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86584" y="502920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95728" y="5111496"/>
            <a:ext cx="146304" cy="0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468880" y="5038344"/>
            <a:ext cx="0" cy="146304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3456432" y="49469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627183"/>
          </a:solidFill>
          <a:ln w="12700">
            <a:solidFill>
              <a:srgbClr val="62718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500634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4846320" y="4315968"/>
            <a:ext cx="822960" cy="0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98932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version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907024" y="36850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09360" y="3794760"/>
            <a:ext cx="457200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907024" y="41239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309360" y="4233672"/>
            <a:ext cx="457200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5907024" y="45628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09360" y="4672584"/>
            <a:ext cx="457200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5907024" y="50017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09360" y="5111496"/>
            <a:ext cx="457200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6309360" y="36301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6896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7059168" y="4672584"/>
            <a:ext cx="0" cy="438912"/>
          </a:xfrm>
          <a:prstGeom prst="line">
            <a:avLst/>
          </a:prstGeom>
          <a:noFill/>
          <a:ln w="12700">
            <a:solidFill>
              <a:srgbClr val="8D5CFF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6949440" y="4544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49440" y="4983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662672" y="4233672"/>
            <a:ext cx="0" cy="438912"/>
          </a:xfrm>
          <a:prstGeom prst="line">
            <a:avLst/>
          </a:prstGeom>
          <a:noFill/>
          <a:ln w="12700">
            <a:solidFill>
              <a:srgbClr val="8D5CFF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7552944" y="4105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52944" y="4544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66176" y="3794760"/>
            <a:ext cx="0" cy="438912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8211312" y="3739896"/>
            <a:ext cx="109728" cy="109728"/>
          </a:xfrm>
          <a:prstGeom prst="ellipse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211312" y="3758550"/>
            <a:ext cx="109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183880" y="41513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93024" y="4233672"/>
            <a:ext cx="146304" cy="0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266176" y="4160520"/>
            <a:ext cx="0" cy="146304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9326880" y="40690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627183"/>
          </a:solidFill>
          <a:ln w="12700">
            <a:solidFill>
              <a:srgbClr val="62718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26880" y="412851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8211312" y="1362456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75904" y="12984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inserts movement so every 2-qubit gate becomes executable.</a:t>
            </a:r>
            <a:endParaRPr lang="en-US" sz="1620" dirty="0"/>
          </a:p>
        </p:txBody>
      </p:sp>
      <p:sp>
        <p:nvSpPr>
          <p:cNvPr id="69" name="Shape 67"/>
          <p:cNvSpPr/>
          <p:nvPr/>
        </p:nvSpPr>
        <p:spPr>
          <a:xfrm>
            <a:off x="8211312" y="2002536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75904" y="193852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movement increases 2-qubit gate count, depth, and error exposure.</a:t>
            </a:r>
            <a:endParaRPr lang="en-US" sz="1620" dirty="0"/>
          </a:p>
        </p:txBody>
      </p:sp>
      <p:sp>
        <p:nvSpPr>
          <p:cNvPr id="71" name="Shape 69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is often the most expensive stage on sparse NISQ hardware—good heuristics can make a large difference.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and optimization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115568"/>
            <a:ext cx="3703320" cy="4069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15568"/>
            <a:ext cx="67208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to the native basis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18288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187452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103120" y="18288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57D6A0"/>
          </a:solidFill>
          <a:ln w="12700">
            <a:solidFill>
              <a:srgbClr val="57D6A0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76272" y="187452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200400" y="18288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B57CFF"/>
          </a:solidFill>
          <a:ln w="12700">
            <a:solidFill>
              <a:srgbClr val="B57CFF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187452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1508760" y="2651760"/>
            <a:ext cx="2148840" cy="0"/>
          </a:xfrm>
          <a:prstGeom prst="line">
            <a:avLst/>
          </a:prstGeom>
          <a:noFill/>
          <a:ln w="12700">
            <a:solidFill>
              <a:srgbClr val="28C7F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30632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" y="310896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2057400" y="30632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30552" y="310896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73552" y="310896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2688" y="38039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another backend-native set such as {CZ, RX, RZ}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89204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optimizations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19472" y="184708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178308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inverse pairs</a:t>
            </a:r>
            <a:endParaRPr lang="en-US" sz="1620" dirty="0"/>
          </a:p>
        </p:txBody>
      </p:sp>
      <p:sp>
        <p:nvSpPr>
          <p:cNvPr id="27" name="Shape 25"/>
          <p:cNvSpPr/>
          <p:nvPr/>
        </p:nvSpPr>
        <p:spPr>
          <a:xfrm>
            <a:off x="4919472" y="227685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2212848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 / reorder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legal</a:t>
            </a:r>
            <a:endParaRPr lang="en-US" sz="1620" dirty="0"/>
          </a:p>
        </p:txBody>
      </p:sp>
      <p:sp>
        <p:nvSpPr>
          <p:cNvPr id="29" name="Shape 27"/>
          <p:cNvSpPr/>
          <p:nvPr/>
        </p:nvSpPr>
        <p:spPr>
          <a:xfrm>
            <a:off x="4919472" y="2843784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277977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resynthesize local blocks</a:t>
            </a:r>
            <a:endParaRPr lang="en-US" sz="1620" dirty="0"/>
          </a:p>
        </p:txBody>
      </p:sp>
      <p:sp>
        <p:nvSpPr>
          <p:cNvPr id="31" name="Shape 29"/>
          <p:cNvSpPr/>
          <p:nvPr/>
        </p:nvSpPr>
        <p:spPr>
          <a:xfrm>
            <a:off x="4919472" y="3273552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209544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if a fidelity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allows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8275320" y="1700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15784" y="21305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18120" y="2240280"/>
            <a:ext cx="150876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7415784" y="26974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818120" y="2807208"/>
            <a:ext cx="150876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818120" y="20756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213512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138160" y="20756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213512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924544" y="2240280"/>
            <a:ext cx="0" cy="566928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8869680" y="2185416"/>
            <a:ext cx="109728" cy="109728"/>
          </a:xfrm>
          <a:prstGeom prst="ellipse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869680" y="2204070"/>
            <a:ext cx="109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842248" y="272491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51392" y="2807208"/>
            <a:ext cx="146304" cy="0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8924544" y="2734056"/>
            <a:ext cx="0" cy="146304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9098280" y="26426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8280" y="27020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9354312" y="2697480"/>
            <a:ext cx="539496" cy="0"/>
          </a:xfrm>
          <a:prstGeom prst="line">
            <a:avLst/>
          </a:prstGeom>
          <a:noFill/>
          <a:ln w="12700">
            <a:solidFill>
              <a:srgbClr val="2D64FF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0076688" y="1700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656064" y="21305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0058400" y="2240280"/>
            <a:ext cx="86868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9656064" y="26974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0058400" y="2807208"/>
            <a:ext cx="86868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0204704" y="2240280"/>
            <a:ext cx="0" cy="566928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10149840" y="2185416"/>
            <a:ext cx="109728" cy="109728"/>
          </a:xfrm>
          <a:prstGeom prst="ellipse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149840" y="2204070"/>
            <a:ext cx="109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122408" y="272491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31552" y="2807208"/>
            <a:ext cx="146304" cy="0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10204704" y="2734056"/>
            <a:ext cx="0" cy="146304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0424160" y="26426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24160" y="27020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7360920" y="388620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F5F9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71232" y="41422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0" b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preserve the algorithm while reducing expensive hardware operations.</a:t>
            </a:r>
            <a:endParaRPr lang="en-US" sz="1510" dirty="0"/>
          </a:p>
        </p:txBody>
      </p:sp>
      <p:sp>
        <p:nvSpPr>
          <p:cNvPr id="66" name="Shape 64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routing, the compiler still has room to improve quality through basis translation, cancellation, and resynthesis.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timing, and reliability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078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in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078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calibration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1874520"/>
            <a:ext cx="4526280" cy="0"/>
          </a:xfrm>
          <a:prstGeom prst="line">
            <a:avLst/>
          </a:prstGeom>
          <a:noFill/>
          <a:ln w="12700">
            <a:solidFill>
              <a:srgbClr val="C8D3E3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2651760"/>
            <a:ext cx="4526280" cy="0"/>
          </a:xfrm>
          <a:prstGeom prst="line">
            <a:avLst/>
          </a:prstGeom>
          <a:noFill/>
          <a:ln w="12700">
            <a:solidFill>
              <a:srgbClr val="C8D3E3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48640" y="33284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429000"/>
            <a:ext cx="4526280" cy="0"/>
          </a:xfrm>
          <a:prstGeom prst="line">
            <a:avLst/>
          </a:prstGeom>
          <a:noFill/>
          <a:ln w="12700">
            <a:solidFill>
              <a:srgbClr val="C8D3E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188720" y="178308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178308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783080"/>
            <a:ext cx="512064" cy="256032"/>
          </a:xfrm>
          <a:prstGeom prst="roundRect">
            <a:avLst>
              <a:gd name="adj" fmla="val 17857"/>
            </a:avLst>
          </a:prstGeom>
          <a:solidFill>
            <a:srgbClr val="57D6A0"/>
          </a:solidFill>
          <a:ln w="12700">
            <a:solidFill>
              <a:srgbClr val="57D6A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256032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2560320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2768" y="3337560"/>
            <a:ext cx="493776" cy="256032"/>
          </a:xfrm>
          <a:prstGeom prst="roundRect">
            <a:avLst>
              <a:gd name="adj" fmla="val 17857"/>
            </a:avLst>
          </a:prstGeom>
          <a:solidFill>
            <a:srgbClr val="B57CFF"/>
          </a:solidFill>
          <a:ln w="12700">
            <a:solidFill>
              <a:srgbClr val="B57C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3337560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B57CFF"/>
          </a:solidFill>
          <a:ln w="12700">
            <a:solidFill>
              <a:srgbClr val="B5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999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55064" y="340156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07792" y="340156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durations + idle windows determine the final execution time.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54673" y="192847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754673" y="233172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292340" y="192847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292340" y="233172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830007" y="192847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830007" y="233172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367674" y="192847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8367674" y="2331720"/>
            <a:ext cx="332842" cy="249631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537960" y="2140610"/>
            <a:ext cx="228600" cy="2286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37960" y="217947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75627" y="1737360"/>
            <a:ext cx="228600" cy="2286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75627" y="177622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75627" y="2543861"/>
            <a:ext cx="228600" cy="2286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75627" y="2582723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13294" y="2140610"/>
            <a:ext cx="228600" cy="2286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13294" y="217947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150962" y="1737360"/>
            <a:ext cx="228600" cy="228600"/>
          </a:xfrm>
          <a:prstGeom prst="ellipse">
            <a:avLst/>
          </a:prstGeom>
          <a:solidFill>
            <a:srgbClr val="FF6E6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150962" y="177622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50962" y="2543861"/>
            <a:ext cx="228600" cy="2286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150962" y="2582723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688629" y="2140610"/>
            <a:ext cx="228600" cy="2286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88629" y="2179472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cleaner qubits/edges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avoid if possible</a:t>
            </a:r>
            <a:endParaRPr lang="en-US" sz="1330" dirty="0"/>
          </a:p>
        </p:txBody>
      </p:sp>
      <p:sp>
        <p:nvSpPr>
          <p:cNvPr id="49" name="Shape 47"/>
          <p:cNvSpPr/>
          <p:nvPr/>
        </p:nvSpPr>
        <p:spPr>
          <a:xfrm>
            <a:off x="6446520" y="3858768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3794760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Noise-adaptive compilation can steer the circuit toward better calibrated resources.</a:t>
            </a:r>
            <a:endParaRPr lang="en-US" sz="1660" dirty="0"/>
          </a:p>
        </p:txBody>
      </p:sp>
      <p:sp>
        <p:nvSpPr>
          <p:cNvPr id="51" name="Shape 49"/>
          <p:cNvSpPr/>
          <p:nvPr/>
        </p:nvSpPr>
        <p:spPr>
          <a:xfrm>
            <a:off x="6446520" y="4389120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432511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can insert delays, align operations, or pad idle periods with dynamical decoupling.</a:t>
            </a:r>
            <a:endParaRPr lang="en-US" sz="1660" dirty="0"/>
          </a:p>
        </p:txBody>
      </p:sp>
      <p:sp>
        <p:nvSpPr>
          <p:cNvPr id="53" name="Shape 51"/>
          <p:cNvSpPr/>
          <p:nvPr/>
        </p:nvSpPr>
        <p:spPr>
          <a:xfrm>
            <a:off x="6446520" y="4919472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4855464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functions are often multi-objective: depth, fidelity, latency, and crosstalk.</a:t>
            </a:r>
            <a:endParaRPr lang="en-US" sz="1660" dirty="0"/>
          </a:p>
        </p:txBody>
      </p:sp>
      <p:sp>
        <p:nvSpPr>
          <p:cNvPr id="55" name="Shape 53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practice, “best” compilation is usually a trade-off among topology, timing, and noise.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workflow: compile, run, interpret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051560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Qiskit sketch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4617720" cy="3950208"/>
          </a:xfrm>
          <a:prstGeom prst="rect">
            <a:avLst/>
          </a:prstGeom>
          <a:solidFill>
            <a:srgbClr val="F4F7FD"/>
          </a:solidFill>
          <a:ln>
            <a:solidFill>
              <a:srgbClr val="D8E3F6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 import QuantumCircuit, transpile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QuantumCircuit(4, 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qc.cx(0,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qc.measure(range(4), range(4))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tqc = transpile(qc, backend=backend,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optimization_level=3)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= backend.run(tqc, shots=2000)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3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job.result().get_counts()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53328" y="1280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conceptually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08192" y="17830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086600" y="173736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59752" y="17830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0E1F36"/>
          </a:solidFill>
          <a:ln w="12700">
            <a:solidFill>
              <a:srgbClr val="0E1F36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17830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189720" y="173736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57D6A0"/>
          </a:solidFill>
          <a:ln w="12700">
            <a:solidFill>
              <a:srgbClr val="57D6A0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62872" y="17830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0241280" y="173736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FFC05A"/>
          </a:solidFill>
          <a:ln w="12700">
            <a:solidFill>
              <a:srgbClr val="FFC05A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3175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314432" y="17830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894576" y="1947672"/>
            <a:ext cx="146304" cy="0"/>
          </a:xfrm>
          <a:prstGeom prst="line">
            <a:avLst/>
          </a:prstGeom>
          <a:noFill/>
          <a:ln w="12700">
            <a:solidFill>
              <a:srgbClr val="62718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46136" y="1947672"/>
            <a:ext cx="146304" cy="0"/>
          </a:xfrm>
          <a:prstGeom prst="line">
            <a:avLst/>
          </a:prstGeom>
          <a:noFill/>
          <a:ln w="12700">
            <a:solidFill>
              <a:srgbClr val="62718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97696" y="1947672"/>
            <a:ext cx="146304" cy="0"/>
          </a:xfrm>
          <a:prstGeom prst="line">
            <a:avLst/>
          </a:prstGeom>
          <a:noFill/>
          <a:ln w="12700">
            <a:solidFill>
              <a:srgbClr val="62718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49256" y="1947672"/>
            <a:ext cx="146304" cy="0"/>
          </a:xfrm>
          <a:prstGeom prst="line">
            <a:avLst/>
          </a:prstGeom>
          <a:noFill/>
          <a:ln w="12700">
            <a:solidFill>
              <a:srgbClr val="6271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35040" y="260604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4F8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metrics after compilation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= [0, 2, 3, 5]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 gates: 1 → 4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depth: 3 → 11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513064" y="29535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15400" y="3063240"/>
            <a:ext cx="178308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8513064" y="346557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15400" y="3575304"/>
            <a:ext cx="178308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8513064" y="39776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15400" y="4087368"/>
            <a:ext cx="1783080" cy="0"/>
          </a:xfrm>
          <a:prstGeom prst="line">
            <a:avLst/>
          </a:prstGeom>
          <a:noFill/>
          <a:ln w="12700">
            <a:solidFill>
              <a:srgbClr val="9BA7B7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915400" y="28986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29580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9464040" y="3575304"/>
            <a:ext cx="0" cy="512064"/>
          </a:xfrm>
          <a:prstGeom prst="line">
            <a:avLst/>
          </a:prstGeom>
          <a:noFill/>
          <a:ln w="12700">
            <a:solidFill>
              <a:srgbClr val="8D5CFF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9354312" y="3447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54312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66376" y="3063240"/>
            <a:ext cx="0" cy="512064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811512" y="3008376"/>
            <a:ext cx="109728" cy="109728"/>
          </a:xfrm>
          <a:prstGeom prst="ellipse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811512" y="3027030"/>
            <a:ext cx="109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84080" y="3493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93224" y="3575304"/>
            <a:ext cx="146304" cy="0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866376" y="3502152"/>
            <a:ext cx="0" cy="146304"/>
          </a:xfrm>
          <a:prstGeom prst="line">
            <a:avLst/>
          </a:prstGeom>
          <a:noFill/>
          <a:ln w="12700">
            <a:solidFill>
              <a:srgbClr val="10243E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144768" y="417880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4114800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Compile: inspect depth, 2-qubit count, chosen layout, and duration.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44768" y="468172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4617720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compare simulator vs. hardware; shots turn probabilities into a histogram.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44768" y="5257800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5193792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Interpret: compilation changes the implementation, not the intended computation.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live demo is to transpile the same circuit for two backends and compare layouts, depth, and output distributions.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current research is pushing the compiler stack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4526280"/>
            <a:ext cx="502920" cy="50292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4611776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4453128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45994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Calibration-aware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5669280" y="3657600"/>
            <a:ext cx="502920" cy="50292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743096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63640" y="3584448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730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heuristics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pass selection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7452360" y="2788920"/>
            <a:ext cx="502920" cy="502920"/>
          </a:xfrm>
          <a:prstGeom prst="ellipse">
            <a:avLst/>
          </a:prstGeom>
          <a:solidFill>
            <a:srgbClr val="57D6A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2874416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2715768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/ multi-core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9281160" y="1901952"/>
            <a:ext cx="502920" cy="502920"/>
          </a:xfrm>
          <a:prstGeom prst="ellipse">
            <a:avLst/>
          </a:prstGeom>
          <a:solidFill>
            <a:srgbClr val="FFC05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" dist="1905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198744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75520" y="1828800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30968" y="1975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/ fault-tolerant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68680" y="1097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themes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6112" y="157276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1508760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 is now multi-objective: fidelity, latency, crosstalk, throughput.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6112" y="2203704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2139696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hardware platforms change routing: ions, neutral atoms, modular systems.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6112" y="2834640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277063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is being explored for layout, routing, and pass selection.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" y="5486400"/>
            <a:ext cx="10241280" cy="438912"/>
          </a:xfrm>
          <a:prstGeom prst="roundRect">
            <a:avLst>
              <a:gd name="adj" fmla="val 12500"/>
            </a:avLst>
          </a:prstGeom>
          <a:solidFill>
            <a:srgbClr val="F4F8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632704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research questions: Which objective should dominate? Which hardware assumptions should the compiler expose to the programmer?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4FF"/>
          </a:solidFill>
          <a:ln w="12700">
            <a:solidFill>
              <a:srgbClr val="0E1F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128016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01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and selected reading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405872" y="256032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7E0F0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25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05872" y="2971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96112" y="163677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572768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quantum compiler is a hardware-aware optimizer.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96112" y="2249424"/>
            <a:ext cx="91440" cy="9144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185416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and routing decide whether the circuit is even executable.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96112" y="2862072"/>
            <a:ext cx="91440" cy="91440"/>
          </a:xfrm>
          <a:prstGeom prst="ellipse">
            <a:avLst/>
          </a:prstGeom>
          <a:solidFill>
            <a:srgbClr val="57D6A0"/>
          </a:solidFill>
          <a:ln w="12700">
            <a:solidFill>
              <a:srgbClr val="57D6A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798064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Translation, optimization, and scheduling strongly affect fidelity.</a:t>
            </a:r>
            <a:endParaRPr lang="en-US" sz="1720" dirty="0"/>
          </a:p>
        </p:txBody>
      </p:sp>
      <p:sp>
        <p:nvSpPr>
          <p:cNvPr id="14" name="Shape 12"/>
          <p:cNvSpPr/>
          <p:nvPr/>
        </p:nvSpPr>
        <p:spPr>
          <a:xfrm>
            <a:off x="896112" y="3474720"/>
            <a:ext cx="91440" cy="91440"/>
          </a:xfrm>
          <a:prstGeom prst="ellipse">
            <a:avLst/>
          </a:prstGeom>
          <a:solidFill>
            <a:srgbClr val="FFC05A"/>
          </a:solidFill>
          <a:ln w="12700">
            <a:solidFill>
              <a:srgbClr val="FFC0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410712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“best” compilation is target- and objective-dependent.</a:t>
            </a:r>
            <a:endParaRPr lang="en-US" sz="1720" dirty="0"/>
          </a:p>
        </p:txBody>
      </p:sp>
      <p:sp>
        <p:nvSpPr>
          <p:cNvPr id="16" name="Shape 14"/>
          <p:cNvSpPr/>
          <p:nvPr/>
        </p:nvSpPr>
        <p:spPr>
          <a:xfrm>
            <a:off x="5989320" y="1078992"/>
            <a:ext cx="5321808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papers / docs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72784" y="1874520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810512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docs: Introduction to transpilation; Transpiler stages.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6272784" y="2395728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33172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Siraichi et al. (2018), Qubit allocation.</a:t>
            </a:r>
            <a:endParaRPr lang="en-US" sz="1530" dirty="0"/>
          </a:p>
        </p:txBody>
      </p:sp>
      <p:sp>
        <p:nvSpPr>
          <p:cNvPr id="22" name="Shape 20"/>
          <p:cNvSpPr/>
          <p:nvPr/>
        </p:nvSpPr>
        <p:spPr>
          <a:xfrm>
            <a:off x="6272784" y="2916936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852928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Ding, Xie (2019), SABRE qubit mapping and routing.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6272784" y="3438144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374136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Murali et al. (2019), noise-adaptive compiler mappings.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6272784" y="3959352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895344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 &amp; Treinish (2022/2023), variability-aware error suppression.</a:t>
            </a:r>
            <a:endParaRPr lang="en-US" sz="1530" dirty="0"/>
          </a:p>
        </p:txBody>
      </p:sp>
      <p:sp>
        <p:nvSpPr>
          <p:cNvPr id="28" name="Shape 26"/>
          <p:cNvSpPr/>
          <p:nvPr/>
        </p:nvSpPr>
        <p:spPr>
          <a:xfrm>
            <a:off x="6272784" y="4480560"/>
            <a:ext cx="91440" cy="91440"/>
          </a:xfrm>
          <a:prstGeom prst="ellipse">
            <a:avLst/>
          </a:prstGeom>
          <a:solidFill>
            <a:srgbClr val="2D64FF"/>
          </a:solidFill>
          <a:ln w="12700">
            <a:solidFill>
              <a:srgbClr val="2D64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4416552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 et al. (2025), cross-architectural survey of mapping and routing.</a:t>
            </a:r>
            <a:endParaRPr lang="en-US" sz="1530" dirty="0"/>
          </a:p>
        </p:txBody>
      </p:sp>
      <p:sp>
        <p:nvSpPr>
          <p:cNvPr id="30" name="Shape 28"/>
          <p:cNvSpPr/>
          <p:nvPr/>
        </p:nvSpPr>
        <p:spPr>
          <a:xfrm>
            <a:off x="868680" y="4480560"/>
            <a:ext cx="4389120" cy="1170432"/>
          </a:xfrm>
          <a:prstGeom prst="roundRect">
            <a:avLst>
              <a:gd name="adj" fmla="val 4688"/>
            </a:avLst>
          </a:prstGeom>
          <a:solidFill>
            <a:srgbClr val="F3F8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700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demo session</a:t>
            </a:r>
            <a:endParaRPr lang="en-US" sz="1580" dirty="0"/>
          </a:p>
        </p:txBody>
      </p:sp>
      <p:sp>
        <p:nvSpPr>
          <p:cNvPr id="32" name="Text 30"/>
          <p:cNvSpPr/>
          <p:nvPr/>
        </p:nvSpPr>
        <p:spPr>
          <a:xfrm>
            <a:off x="1097280" y="49560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the same circuit for different backends, then compare layout, 2Q gates, depth, and output histograms.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12648" y="6190488"/>
            <a:ext cx="7955280" cy="384048"/>
          </a:xfrm>
          <a:prstGeom prst="roundRect">
            <a:avLst>
              <a:gd name="adj" fmla="val 19048"/>
            </a:avLst>
          </a:prstGeom>
          <a:solidFill>
            <a:srgbClr val="EDF3FF"/>
          </a:solidFill>
          <a:ln w="12700">
            <a:solidFill>
              <a:srgbClr val="D8E3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6281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i="1" dirty="0">
                <a:solidFill>
                  <a:srgbClr val="2D6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audience remembers only one thing: compilation is where quantum software becomes hardware reality.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Quantum Compiler Stack</dc:title>
  <dc:subject>Educational introduction to the quantum compiler stack</dc:subject>
  <dc:creator>OpenAI</dc:creator>
  <cp:lastModifiedBy>OpenAI</cp:lastModifiedBy>
  <cp:revision>1</cp:revision>
  <dcterms:created xsi:type="dcterms:W3CDTF">2026-03-27T01:53:11Z</dcterms:created>
  <dcterms:modified xsi:type="dcterms:W3CDTF">2026-03-27T01:53:11Z</dcterms:modified>
</cp:coreProperties>
</file>